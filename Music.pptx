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6" r:id="rId8"/>
    <p:sldId id="267" r:id="rId9"/>
    <p:sldId id="268" r:id="rId10"/>
    <p:sldId id="270" r:id="rId11"/>
  </p:sldIdLst>
  <p:sldSz cx="18288000" cy="10287000"/>
  <p:notesSz cx="6858000" cy="9144000"/>
  <p:embeddedFontLst>
    <p:embeddedFont>
      <p:font typeface="Jua" panose="020B0604020202020204" charset="-127"/>
      <p:regular r:id="rId12"/>
    </p:embeddedFont>
    <p:embeddedFont>
      <p:font typeface="Quicksand" panose="020B0604020202020204" charset="0"/>
      <p:regular r:id="rId13"/>
    </p:embeddedFont>
    <p:embeddedFont>
      <p:font typeface="Quicksand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74" autoAdjust="0"/>
    <p:restoredTop sz="94622" autoAdjust="0"/>
  </p:normalViewPr>
  <p:slideViewPr>
    <p:cSldViewPr>
      <p:cViewPr varScale="1">
        <p:scale>
          <a:sx n="65" d="100"/>
          <a:sy n="65" d="100"/>
        </p:scale>
        <p:origin x="78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6.svg"/><Relationship Id="rId18" Type="http://schemas.openxmlformats.org/officeDocument/2006/relationships/image" Target="../media/image29.png"/><Relationship Id="rId3" Type="http://schemas.openxmlformats.org/officeDocument/2006/relationships/image" Target="../media/image2.svg"/><Relationship Id="rId21" Type="http://schemas.openxmlformats.org/officeDocument/2006/relationships/image" Target="../media/image32.png"/><Relationship Id="rId7" Type="http://schemas.openxmlformats.org/officeDocument/2006/relationships/image" Target="../media/image6.svg"/><Relationship Id="rId12" Type="http://schemas.openxmlformats.org/officeDocument/2006/relationships/image" Target="../media/image25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24" Type="http://schemas.openxmlformats.org/officeDocument/2006/relationships/image" Target="../media/image35.svg"/><Relationship Id="rId5" Type="http://schemas.openxmlformats.org/officeDocument/2006/relationships/image" Target="../media/image24.svg"/><Relationship Id="rId15" Type="http://schemas.openxmlformats.org/officeDocument/2006/relationships/image" Target="../media/image14.svg"/><Relationship Id="rId23" Type="http://schemas.openxmlformats.org/officeDocument/2006/relationships/image" Target="../media/image34.png"/><Relationship Id="rId10" Type="http://schemas.openxmlformats.org/officeDocument/2006/relationships/image" Target="../media/image11.png"/><Relationship Id="rId19" Type="http://schemas.openxmlformats.org/officeDocument/2006/relationships/image" Target="../media/image30.svg"/><Relationship Id="rId4" Type="http://schemas.openxmlformats.org/officeDocument/2006/relationships/image" Target="../media/image23.png"/><Relationship Id="rId9" Type="http://schemas.openxmlformats.org/officeDocument/2006/relationships/image" Target="../media/image10.svg"/><Relationship Id="rId14" Type="http://schemas.openxmlformats.org/officeDocument/2006/relationships/image" Target="../media/image13.png"/><Relationship Id="rId22" Type="http://schemas.openxmlformats.org/officeDocument/2006/relationships/image" Target="../media/image3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37.sv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17" Type="http://schemas.openxmlformats.org/officeDocument/2006/relationships/image" Target="../media/image26.svg"/><Relationship Id="rId2" Type="http://schemas.openxmlformats.org/officeDocument/2006/relationships/image" Target="../media/image36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svg"/><Relationship Id="rId5" Type="http://schemas.openxmlformats.org/officeDocument/2006/relationships/image" Target="../media/image39.svg"/><Relationship Id="rId15" Type="http://schemas.openxmlformats.org/officeDocument/2006/relationships/image" Target="../media/image14.svg"/><Relationship Id="rId10" Type="http://schemas.openxmlformats.org/officeDocument/2006/relationships/image" Target="../media/image27.png"/><Relationship Id="rId4" Type="http://schemas.openxmlformats.org/officeDocument/2006/relationships/image" Target="../media/image38.png"/><Relationship Id="rId9" Type="http://schemas.openxmlformats.org/officeDocument/2006/relationships/image" Target="../media/image10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9.png"/><Relationship Id="rId26" Type="http://schemas.openxmlformats.org/officeDocument/2006/relationships/image" Target="../media/image48.png"/><Relationship Id="rId3" Type="http://schemas.openxmlformats.org/officeDocument/2006/relationships/image" Target="../media/image2.svg"/><Relationship Id="rId21" Type="http://schemas.openxmlformats.org/officeDocument/2006/relationships/image" Target="../media/image43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8.svg"/><Relationship Id="rId25" Type="http://schemas.openxmlformats.org/officeDocument/2006/relationships/image" Target="../media/image47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20" Type="http://schemas.openxmlformats.org/officeDocument/2006/relationships/image" Target="../media/image42.png"/><Relationship Id="rId29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46.png"/><Relationship Id="rId5" Type="http://schemas.openxmlformats.org/officeDocument/2006/relationships/image" Target="../media/image41.svg"/><Relationship Id="rId15" Type="http://schemas.openxmlformats.org/officeDocument/2006/relationships/image" Target="../media/image26.svg"/><Relationship Id="rId23" Type="http://schemas.openxmlformats.org/officeDocument/2006/relationships/image" Target="../media/image45.svg"/><Relationship Id="rId28" Type="http://schemas.openxmlformats.org/officeDocument/2006/relationships/image" Target="../media/image50.png"/><Relationship Id="rId10" Type="http://schemas.openxmlformats.org/officeDocument/2006/relationships/image" Target="../media/image9.png"/><Relationship Id="rId19" Type="http://schemas.openxmlformats.org/officeDocument/2006/relationships/image" Target="../media/image30.svg"/><Relationship Id="rId4" Type="http://schemas.openxmlformats.org/officeDocument/2006/relationships/image" Target="../media/image40.png"/><Relationship Id="rId9" Type="http://schemas.openxmlformats.org/officeDocument/2006/relationships/image" Target="../media/image8.svg"/><Relationship Id="rId14" Type="http://schemas.openxmlformats.org/officeDocument/2006/relationships/image" Target="../media/image25.png"/><Relationship Id="rId22" Type="http://schemas.openxmlformats.org/officeDocument/2006/relationships/image" Target="../media/image44.png"/><Relationship Id="rId27" Type="http://schemas.openxmlformats.org/officeDocument/2006/relationships/image" Target="../media/image4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18" Type="http://schemas.openxmlformats.org/officeDocument/2006/relationships/image" Target="../media/image56.png"/><Relationship Id="rId3" Type="http://schemas.openxmlformats.org/officeDocument/2006/relationships/image" Target="../media/image53.svg"/><Relationship Id="rId21" Type="http://schemas.openxmlformats.org/officeDocument/2006/relationships/image" Target="../media/image59.sv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17" Type="http://schemas.openxmlformats.org/officeDocument/2006/relationships/image" Target="../media/image26.svg"/><Relationship Id="rId2" Type="http://schemas.openxmlformats.org/officeDocument/2006/relationships/image" Target="../media/image52.png"/><Relationship Id="rId16" Type="http://schemas.openxmlformats.org/officeDocument/2006/relationships/image" Target="../media/image25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svg"/><Relationship Id="rId5" Type="http://schemas.openxmlformats.org/officeDocument/2006/relationships/image" Target="../media/image55.svg"/><Relationship Id="rId15" Type="http://schemas.openxmlformats.org/officeDocument/2006/relationships/image" Target="../media/image14.svg"/><Relationship Id="rId23" Type="http://schemas.openxmlformats.org/officeDocument/2006/relationships/image" Target="../media/image61.svg"/><Relationship Id="rId10" Type="http://schemas.openxmlformats.org/officeDocument/2006/relationships/image" Target="../media/image27.png"/><Relationship Id="rId19" Type="http://schemas.openxmlformats.org/officeDocument/2006/relationships/image" Target="../media/image57.svg"/><Relationship Id="rId4" Type="http://schemas.openxmlformats.org/officeDocument/2006/relationships/image" Target="../media/image54.png"/><Relationship Id="rId9" Type="http://schemas.openxmlformats.org/officeDocument/2006/relationships/image" Target="../media/image10.svg"/><Relationship Id="rId14" Type="http://schemas.openxmlformats.org/officeDocument/2006/relationships/image" Target="../media/image13.png"/><Relationship Id="rId22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65.svg"/><Relationship Id="rId3" Type="http://schemas.openxmlformats.org/officeDocument/2006/relationships/image" Target="../media/image37.svg"/><Relationship Id="rId7" Type="http://schemas.openxmlformats.org/officeDocument/2006/relationships/image" Target="../media/image6.svg"/><Relationship Id="rId12" Type="http://schemas.openxmlformats.org/officeDocument/2006/relationships/image" Target="../media/image6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63.svg"/><Relationship Id="rId10" Type="http://schemas.openxmlformats.org/officeDocument/2006/relationships/image" Target="../media/image7.png"/><Relationship Id="rId4" Type="http://schemas.openxmlformats.org/officeDocument/2006/relationships/image" Target="../media/image62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0.svg"/><Relationship Id="rId3" Type="http://schemas.openxmlformats.org/officeDocument/2006/relationships/image" Target="../media/image53.svg"/><Relationship Id="rId7" Type="http://schemas.openxmlformats.org/officeDocument/2006/relationships/image" Target="../media/image28.svg"/><Relationship Id="rId12" Type="http://schemas.openxmlformats.org/officeDocument/2006/relationships/image" Target="../media/image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6.svg"/><Relationship Id="rId5" Type="http://schemas.openxmlformats.org/officeDocument/2006/relationships/image" Target="../media/image67.svg"/><Relationship Id="rId15" Type="http://schemas.openxmlformats.org/officeDocument/2006/relationships/image" Target="../media/image12.svg"/><Relationship Id="rId10" Type="http://schemas.openxmlformats.org/officeDocument/2006/relationships/image" Target="../media/image5.png"/><Relationship Id="rId4" Type="http://schemas.openxmlformats.org/officeDocument/2006/relationships/image" Target="../media/image66.png"/><Relationship Id="rId9" Type="http://schemas.openxmlformats.org/officeDocument/2006/relationships/image" Target="../media/image30.sv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0.svg"/><Relationship Id="rId18" Type="http://schemas.openxmlformats.org/officeDocument/2006/relationships/image" Target="../media/image11.png"/><Relationship Id="rId3" Type="http://schemas.openxmlformats.org/officeDocument/2006/relationships/image" Target="../media/image37.svg"/><Relationship Id="rId7" Type="http://schemas.openxmlformats.org/officeDocument/2006/relationships/image" Target="../media/image26.svg"/><Relationship Id="rId12" Type="http://schemas.openxmlformats.org/officeDocument/2006/relationships/image" Target="../media/image29.png"/><Relationship Id="rId17" Type="http://schemas.openxmlformats.org/officeDocument/2006/relationships/image" Target="../media/image10.svg"/><Relationship Id="rId2" Type="http://schemas.openxmlformats.org/officeDocument/2006/relationships/image" Target="../media/image36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svg"/><Relationship Id="rId5" Type="http://schemas.openxmlformats.org/officeDocument/2006/relationships/image" Target="../media/image69.svg"/><Relationship Id="rId15" Type="http://schemas.openxmlformats.org/officeDocument/2006/relationships/image" Target="../media/image6.svg"/><Relationship Id="rId10" Type="http://schemas.openxmlformats.org/officeDocument/2006/relationships/image" Target="../media/image27.png"/><Relationship Id="rId19" Type="http://schemas.openxmlformats.org/officeDocument/2006/relationships/image" Target="../media/image12.svg"/><Relationship Id="rId4" Type="http://schemas.openxmlformats.org/officeDocument/2006/relationships/image" Target="../media/image68.png"/><Relationship Id="rId9" Type="http://schemas.openxmlformats.org/officeDocument/2006/relationships/image" Target="../media/image14.svg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0.svg"/><Relationship Id="rId18" Type="http://schemas.openxmlformats.org/officeDocument/2006/relationships/image" Target="../media/image7.png"/><Relationship Id="rId3" Type="http://schemas.openxmlformats.org/officeDocument/2006/relationships/image" Target="../media/image2.svg"/><Relationship Id="rId21" Type="http://schemas.openxmlformats.org/officeDocument/2006/relationships/image" Target="../media/image12.svg"/><Relationship Id="rId7" Type="http://schemas.openxmlformats.org/officeDocument/2006/relationships/image" Target="../media/image26.svg"/><Relationship Id="rId12" Type="http://schemas.openxmlformats.org/officeDocument/2006/relationships/image" Target="../media/image29.png"/><Relationship Id="rId17" Type="http://schemas.openxmlformats.org/officeDocument/2006/relationships/image" Target="../media/image10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svg"/><Relationship Id="rId5" Type="http://schemas.openxmlformats.org/officeDocument/2006/relationships/image" Target="../media/image71.svg"/><Relationship Id="rId15" Type="http://schemas.openxmlformats.org/officeDocument/2006/relationships/image" Target="../media/image6.svg"/><Relationship Id="rId10" Type="http://schemas.openxmlformats.org/officeDocument/2006/relationships/image" Target="../media/image27.png"/><Relationship Id="rId19" Type="http://schemas.openxmlformats.org/officeDocument/2006/relationships/image" Target="../media/image8.svg"/><Relationship Id="rId4" Type="http://schemas.openxmlformats.org/officeDocument/2006/relationships/image" Target="../media/image70.png"/><Relationship Id="rId9" Type="http://schemas.openxmlformats.org/officeDocument/2006/relationships/image" Target="../media/image14.svg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18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hyperlink" Target="https://wordwall.net/uk/resource/1847683/music/music-ep-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svg"/><Relationship Id="rId5" Type="http://schemas.openxmlformats.org/officeDocument/2006/relationships/image" Target="../media/image73.svg"/><Relationship Id="rId15" Type="http://schemas.openxmlformats.org/officeDocument/2006/relationships/image" Target="../media/image14.svg"/><Relationship Id="rId10" Type="http://schemas.openxmlformats.org/officeDocument/2006/relationships/image" Target="../media/image27.png"/><Relationship Id="rId4" Type="http://schemas.openxmlformats.org/officeDocument/2006/relationships/image" Target="../media/image72.png"/><Relationship Id="rId9" Type="http://schemas.openxmlformats.org/officeDocument/2006/relationships/image" Target="../media/image10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369964">
            <a:off x="-2254530" y="6673324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75107" y="4021259"/>
            <a:ext cx="6060221" cy="745664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-1037787" y="-379668"/>
            <a:ext cx="2515135" cy="221960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8377611" y="9317764"/>
            <a:ext cx="1532777" cy="135267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-870127" y="730135"/>
            <a:ext cx="2619375" cy="2057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831240">
            <a:off x="13741157" y="-3546538"/>
            <a:ext cx="9093686" cy="709307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2263184" y="-519887"/>
            <a:ext cx="1754772" cy="15485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7646881" y="3015534"/>
            <a:ext cx="871017" cy="77599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7002758" y="5792517"/>
            <a:ext cx="524491" cy="46286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7259028" y="8310703"/>
            <a:ext cx="524491" cy="46286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3321079" y="7526455"/>
            <a:ext cx="505671" cy="4462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531868" y="1994306"/>
            <a:ext cx="505671" cy="44625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172225" y="-223127"/>
            <a:ext cx="505671" cy="446254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 rot="467774">
            <a:off x="8260397" y="5692058"/>
            <a:ext cx="1767206" cy="254086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 rot="-1931571">
            <a:off x="4229718" y="2001957"/>
            <a:ext cx="1767206" cy="2540868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7337201" y="254407"/>
            <a:ext cx="760010" cy="1130126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 rot="574952">
            <a:off x="14568038" y="6687984"/>
            <a:ext cx="2910286" cy="4114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1028700" y="2107843"/>
            <a:ext cx="1281291" cy="2710423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970716" y="3406694"/>
            <a:ext cx="9865763" cy="206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129"/>
              </a:lnSpc>
            </a:pPr>
            <a:r>
              <a:rPr lang="en-US" sz="12999">
                <a:solidFill>
                  <a:srgbClr val="3E393A"/>
                </a:solidFill>
                <a:latin typeface="Jua Bold"/>
              </a:rPr>
              <a:t>Music Tastes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93941" y="2692001"/>
            <a:ext cx="841931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E393A"/>
                </a:solidFill>
                <a:latin typeface="Quicksand"/>
              </a:rPr>
              <a:t>The topic of our lesson is: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644482">
            <a:off x="-1498878" y="-2479747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91225" y="744472"/>
            <a:ext cx="8352775" cy="539133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6445970">
            <a:off x="12750234" y="8971832"/>
            <a:ext cx="9018132" cy="703414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567186" y="2954365"/>
            <a:ext cx="10692114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0"/>
              </a:lnSpc>
            </a:pPr>
            <a:r>
              <a:rPr lang="en-US" sz="9000">
                <a:solidFill>
                  <a:srgbClr val="3E393A"/>
                </a:solidFill>
                <a:latin typeface="Jua Bold"/>
              </a:rPr>
              <a:t>Mind map.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-1206849" y="7740241"/>
            <a:ext cx="2515135" cy="2219606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-1039189" y="8850044"/>
            <a:ext cx="2619375" cy="2057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1895306" y="1215032"/>
            <a:ext cx="1754772" cy="15485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738162" y="6287586"/>
            <a:ext cx="871017" cy="77599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6823791" y="3827030"/>
            <a:ext cx="871017" cy="77599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 rot="-8220033" flipH="1">
            <a:off x="16692683" y="-1671188"/>
            <a:ext cx="2354372" cy="342567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 rot="-8220033">
            <a:off x="14910803" y="-960614"/>
            <a:ext cx="2180695" cy="171283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5227619" y="4847954"/>
            <a:ext cx="6667687" cy="511189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13388879" y="6792644"/>
            <a:ext cx="5675586" cy="411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 rot="1709998">
            <a:off x="-1483929" y="8410569"/>
            <a:ext cx="7315200" cy="21014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335262">
            <a:off x="10933326" y="7806375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2458234" y="3518562"/>
            <a:ext cx="5423734" cy="768828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59566" y="2109349"/>
            <a:ext cx="12839199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500"/>
              </a:lnSpc>
            </a:pPr>
            <a:r>
              <a:rPr lang="en-US" sz="9000">
                <a:solidFill>
                  <a:srgbClr val="3E393A"/>
                </a:solidFill>
                <a:latin typeface="Jua Bold"/>
              </a:rPr>
              <a:t>Checking up the homework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667756">
            <a:off x="-1048627" y="-5479555"/>
            <a:ext cx="9473794" cy="738955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820848" y="-894675"/>
            <a:ext cx="2027591" cy="178934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7432610">
            <a:off x="16758532" y="-250423"/>
            <a:ext cx="2619375" cy="2057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flipH="1">
            <a:off x="-854429" y="8416601"/>
            <a:ext cx="2827990" cy="411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010992" y="8416601"/>
            <a:ext cx="2143216" cy="168339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4766244" y="8643984"/>
            <a:ext cx="689539" cy="61431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10767081" y="778277"/>
            <a:ext cx="1049239" cy="9347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369964">
            <a:off x="-2254530" y="6673324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47338" y="5000542"/>
            <a:ext cx="7676220" cy="505234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006721" y="867186"/>
            <a:ext cx="6498119" cy="631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 Bold"/>
              </a:rPr>
              <a:t>“Unscrumble the words”: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1) DMUR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2) ONAIP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3) UARTIG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4) ORHN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5) OLLEC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6) NOIDROCAC </a:t>
            </a:r>
          </a:p>
          <a:p>
            <a:pPr>
              <a:lnSpc>
                <a:spcPts val="5599"/>
              </a:lnSpc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7) INLOIV </a:t>
            </a:r>
          </a:p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E393A"/>
                </a:solidFill>
                <a:latin typeface="Quicksand"/>
              </a:rPr>
              <a:t>8) TENIRALC 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8416430">
            <a:off x="14405261" y="-4179639"/>
            <a:ext cx="9093686" cy="70930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7711151">
            <a:off x="241699" y="88573"/>
            <a:ext cx="1937251" cy="170962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-828106" y="7692339"/>
            <a:ext cx="1532777" cy="1352676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7711151">
            <a:off x="-523801" y="-209964"/>
            <a:ext cx="2017541" cy="158468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6271684" y="9734732"/>
            <a:ext cx="1754772" cy="154858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5052421" y="4434222"/>
            <a:ext cx="1271332" cy="1132641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 rot="-923155" flipH="1">
            <a:off x="15762051" y="8796188"/>
            <a:ext cx="2354372" cy="342567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 rot="-923155">
            <a:off x="16952679" y="8137671"/>
            <a:ext cx="2180695" cy="171283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1210325" y="1865094"/>
            <a:ext cx="4292803" cy="198300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643767" y="6386604"/>
            <a:ext cx="3461217" cy="3619143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 rot="-410934">
            <a:off x="11840616" y="2587057"/>
            <a:ext cx="3100192" cy="2057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16422070" y="6386604"/>
            <a:ext cx="1264530" cy="1492471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 rot="-1219401">
            <a:off x="12585170" y="7185436"/>
            <a:ext cx="2654552" cy="2133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335262">
            <a:off x="10933326" y="7806375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6455981">
            <a:off x="-1103210" y="-6189614"/>
            <a:ext cx="9473794" cy="738955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3817155" y="1702838"/>
            <a:ext cx="3706136" cy="838837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820848" y="-894675"/>
            <a:ext cx="2027591" cy="178934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7432610">
            <a:off x="16758532" y="-250423"/>
            <a:ext cx="2619375" cy="2057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flipH="1">
            <a:off x="-702274" y="8804599"/>
            <a:ext cx="2249513" cy="327310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781568" y="8804599"/>
            <a:ext cx="1704812" cy="133905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9897003" y="8845592"/>
            <a:ext cx="1398143" cy="124561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10890837" y="1315572"/>
            <a:ext cx="727240" cy="64790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7254016" y="4027564"/>
            <a:ext cx="5547796" cy="318746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 rot="352410">
            <a:off x="6246227" y="1355698"/>
            <a:ext cx="4374257" cy="2306426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 rot="2999498">
            <a:off x="4959189" y="7979489"/>
            <a:ext cx="2081017" cy="1838862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28700" y="2007186"/>
            <a:ext cx="5209974" cy="6496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 Bold"/>
              </a:rPr>
              <a:t>Answers: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1) DRUM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2) PIANO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3) GUITAR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4) HORN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5) CELLO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6) ACCORDION</a:t>
            </a:r>
          </a:p>
          <a:p>
            <a:pPr>
              <a:lnSpc>
                <a:spcPts val="5739"/>
              </a:lnSpc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7) VIOLIN</a:t>
            </a:r>
          </a:p>
          <a:p>
            <a:pPr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3E393A"/>
                </a:solidFill>
                <a:latin typeface="Quicksand"/>
              </a:rPr>
              <a:t>8) CLARINET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6434756">
            <a:off x="10933326" y="7806375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326201">
            <a:off x="-3223472" y="-6422006"/>
            <a:ext cx="9473794" cy="738955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13818" y="1658620"/>
            <a:ext cx="14792148" cy="775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19"/>
              </a:lnSpc>
            </a:pPr>
            <a:r>
              <a:rPr lang="en-US" sz="2299" u="sng" dirty="0">
                <a:solidFill>
                  <a:srgbClr val="3E393A"/>
                </a:solidFill>
                <a:latin typeface="Quicksand Bold"/>
              </a:rPr>
              <a:t>Complete the sentences with the words from the box:</a:t>
            </a:r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 Bold"/>
              </a:rPr>
              <a:t>[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Pop music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classical music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reggae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folk music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jazz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punk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country</a:t>
            </a:r>
            <a:r>
              <a:rPr lang="en-US" sz="2800" dirty="0">
                <a:solidFill>
                  <a:srgbClr val="3E393A"/>
                </a:solidFill>
                <a:latin typeface="Quicksand Bold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Quicksand Bold"/>
              </a:rPr>
              <a:t>rap</a:t>
            </a:r>
            <a:r>
              <a:rPr lang="en-US" sz="2299" dirty="0">
                <a:solidFill>
                  <a:srgbClr val="3E393A"/>
                </a:solidFill>
                <a:latin typeface="Quicksand Bold"/>
              </a:rPr>
              <a:t>.]</a:t>
            </a:r>
          </a:p>
          <a:p>
            <a:pPr>
              <a:lnSpc>
                <a:spcPts val="3219"/>
              </a:lnSpc>
            </a:pPr>
            <a:endParaRPr dirty="0"/>
          </a:p>
          <a:p>
            <a:pPr>
              <a:lnSpc>
                <a:spcPts val="3219"/>
              </a:lnSpc>
            </a:pPr>
            <a:r>
              <a:rPr lang="en-US" sz="2299" dirty="0">
                <a:solidFill>
                  <a:srgbClr val="3E393A"/>
                </a:solidFill>
                <a:latin typeface="Quicksand"/>
              </a:rPr>
              <a:t> 1</a:t>
            </a:r>
            <a:r>
              <a:rPr lang="en-US" sz="2800" dirty="0">
                <a:solidFill>
                  <a:srgbClr val="3E393A"/>
                </a:solidFill>
                <a:latin typeface="Quicksand"/>
              </a:rPr>
              <a:t>.--------is played by a big orchestra in a concert hall.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2.--------comes originally from black American </a:t>
            </a:r>
            <a:r>
              <a:rPr lang="en-US" sz="2800" u="sng" dirty="0">
                <a:solidFill>
                  <a:srgbClr val="3E393A"/>
                </a:solidFill>
                <a:latin typeface="Quicksand"/>
              </a:rPr>
              <a:t>musicians.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3.--------is played by young people with brightly </a:t>
            </a:r>
            <a:r>
              <a:rPr lang="en-US" sz="2800" dirty="0" err="1">
                <a:solidFill>
                  <a:srgbClr val="3E393A"/>
                </a:solidFill>
                <a:latin typeface="Quicksand"/>
              </a:rPr>
              <a:t>coloured</a:t>
            </a:r>
            <a:r>
              <a:rPr lang="en-US" sz="2800" dirty="0">
                <a:solidFill>
                  <a:srgbClr val="3E393A"/>
                </a:solidFill>
                <a:latin typeface="Quicksand"/>
              </a:rPr>
              <a:t> hair.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4.--------usually offers simple tunes which are popular for a short time.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5.-------- music is usually played on the guitar, banjo and violin.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6.------- is a musical style where the singer speaks or shouts the words.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7.------- comes from a specific region and is usually popular for a long period .</a:t>
            </a:r>
          </a:p>
          <a:p>
            <a:pPr>
              <a:lnSpc>
                <a:spcPts val="3219"/>
              </a:lnSpc>
            </a:pPr>
            <a:endParaRPr sz="2400" dirty="0"/>
          </a:p>
          <a:p>
            <a:pPr>
              <a:lnSpc>
                <a:spcPts val="3219"/>
              </a:lnSpc>
            </a:pPr>
            <a:r>
              <a:rPr lang="en-US" sz="2800" dirty="0">
                <a:solidFill>
                  <a:srgbClr val="3E393A"/>
                </a:solidFill>
                <a:latin typeface="Quicksand"/>
              </a:rPr>
              <a:t> 8.------- is often played freely, not following written music.</a:t>
            </a:r>
          </a:p>
          <a:p>
            <a:pPr>
              <a:lnSpc>
                <a:spcPts val="3219"/>
              </a:lnSpc>
              <a:spcBef>
                <a:spcPct val="0"/>
              </a:spcBef>
            </a:pPr>
            <a:endParaRPr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2172577" y="4948379"/>
            <a:ext cx="5895642" cy="545614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5820848" y="-894675"/>
            <a:ext cx="2027591" cy="178934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7432610">
            <a:off x="16758532" y="-250423"/>
            <a:ext cx="2619375" cy="2057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0889965" y="352362"/>
            <a:ext cx="1532777" cy="1352676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2422742" y="1246100"/>
            <a:ext cx="37496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891297">
            <a:off x="10443574" y="-3488926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flipH="1">
            <a:off x="10618028" y="205853"/>
            <a:ext cx="9662442" cy="614882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77348" y="558685"/>
            <a:ext cx="1079155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>
                <a:solidFill>
                  <a:srgbClr val="3E393A"/>
                </a:solidFill>
                <a:latin typeface="Jua Bold"/>
              </a:rPr>
              <a:t>What music do you like and why?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9082710">
            <a:off x="-3708197" y="8579880"/>
            <a:ext cx="9473794" cy="738955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477348" y="2981325"/>
            <a:ext cx="8625949" cy="438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3E393A"/>
                </a:solidFill>
                <a:latin typeface="Quicksand Bold"/>
              </a:rPr>
              <a:t>Use these adjectives:</a:t>
            </a:r>
          </a:p>
          <a:p>
            <a:pPr>
              <a:lnSpc>
                <a:spcPts val="4200"/>
              </a:lnSpc>
            </a:pPr>
            <a:endParaRPr/>
          </a:p>
          <a:p>
            <a:pPr>
              <a:lnSpc>
                <a:spcPts val="4200"/>
              </a:lnSpc>
            </a:pPr>
            <a:r>
              <a:rPr lang="en-US" sz="3000">
                <a:solidFill>
                  <a:srgbClr val="3E393A"/>
                </a:solidFill>
                <a:latin typeface="Quicksand"/>
              </a:rPr>
              <a:t>Beautiful, touching, serious, cheerful, relaxing, sad, simple, traditional,healing, emotional, exciting, catchy, soothing, pleasant, romantic, energetic.</a:t>
            </a:r>
          </a:p>
          <a:p>
            <a:pPr>
              <a:lnSpc>
                <a:spcPts val="4200"/>
              </a:lnSpc>
            </a:pPr>
            <a:endParaRPr/>
          </a:p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3E393A"/>
                </a:solidFill>
                <a:latin typeface="Quicksand Bold"/>
              </a:rPr>
              <a:t>And tell about your favourite music: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-923155" flipH="1">
            <a:off x="15762051" y="8796188"/>
            <a:ext cx="2354372" cy="342567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-923155">
            <a:off x="16952679" y="8137671"/>
            <a:ext cx="2180695" cy="171283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-1037787" y="-379668"/>
            <a:ext cx="2515135" cy="221960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-870127" y="730135"/>
            <a:ext cx="2619375" cy="2057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4851276" y="-568440"/>
            <a:ext cx="1754772" cy="154858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77348" y="7341820"/>
            <a:ext cx="12512040" cy="165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u="sng" dirty="0">
                <a:solidFill>
                  <a:srgbClr val="FF0000"/>
                </a:solidFill>
                <a:latin typeface="Quicksand"/>
              </a:rPr>
              <a:t>As for me, I like pop music because it is cheerful, simple and touching</a:t>
            </a:r>
            <a:r>
              <a:rPr lang="en-US" sz="3000" dirty="0">
                <a:solidFill>
                  <a:srgbClr val="3E393A"/>
                </a:solidFill>
                <a:latin typeface="Quicksand"/>
              </a:rPr>
              <a:t>.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E393A"/>
                </a:solidFill>
                <a:latin typeface="Quicksand Bold"/>
              </a:rPr>
              <a:t>Where we usually listen to music?  </a:t>
            </a:r>
          </a:p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3E393A"/>
                </a:solidFill>
                <a:latin typeface="Quicksand Bold"/>
              </a:rPr>
              <a:t>In pairs, ask and answer the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400000">
            <a:off x="10370952" y="-6450142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565206">
            <a:off x="-2265091" y="6592220"/>
            <a:ext cx="9473794" cy="738955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710411" y="3993389"/>
            <a:ext cx="11094360" cy="3600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8" lvl="1" indent="-367029" algn="r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4800" dirty="0">
                <a:solidFill>
                  <a:srgbClr val="3E393A"/>
                </a:solidFill>
                <a:latin typeface="Quicksand"/>
              </a:rPr>
              <a:t>1 word – the topic</a:t>
            </a:r>
          </a:p>
          <a:p>
            <a:pPr marL="734058" lvl="1" indent="-367029" algn="r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4800" dirty="0">
                <a:solidFill>
                  <a:srgbClr val="3E393A"/>
                </a:solidFill>
                <a:latin typeface="Quicksand"/>
              </a:rPr>
              <a:t>2 words – adjectives to describe it</a:t>
            </a:r>
          </a:p>
          <a:p>
            <a:pPr marL="734058" lvl="1" indent="-367029" algn="r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4800" dirty="0">
                <a:solidFill>
                  <a:srgbClr val="3E393A"/>
                </a:solidFill>
                <a:latin typeface="Quicksand"/>
              </a:rPr>
              <a:t>3 words – verbs connected with it</a:t>
            </a:r>
          </a:p>
          <a:p>
            <a:pPr marL="734058" lvl="1" indent="-367029" algn="r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4800" dirty="0">
                <a:solidFill>
                  <a:srgbClr val="3E393A"/>
                </a:solidFill>
                <a:latin typeface="Quicksand"/>
              </a:rPr>
              <a:t>4 words – your attitude to it</a:t>
            </a:r>
          </a:p>
          <a:p>
            <a:pPr marL="734058" lvl="1" indent="-367029" algn="r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4800" dirty="0">
                <a:solidFill>
                  <a:srgbClr val="3E393A"/>
                </a:solidFill>
                <a:latin typeface="Quicksand"/>
              </a:rPr>
              <a:t>1 word - your feelings (noun)</a:t>
            </a:r>
          </a:p>
          <a:p>
            <a:pPr algn="r">
              <a:lnSpc>
                <a:spcPts val="4759"/>
              </a:lnSpc>
              <a:spcBef>
                <a:spcPct val="0"/>
              </a:spcBef>
            </a:pPr>
            <a:endParaRPr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483229" y="3835368"/>
            <a:ext cx="6553074" cy="747757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3759766" y="2787535"/>
            <a:ext cx="606754" cy="54056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325690" y="6989262"/>
            <a:ext cx="1096737" cy="97709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-923155" flipH="1">
            <a:off x="16021701" y="9300121"/>
            <a:ext cx="2115381" cy="307793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 rot="-923155">
            <a:off x="17091468" y="8708450"/>
            <a:ext cx="1959334" cy="15389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-1037787" y="-379668"/>
            <a:ext cx="2515135" cy="221960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-870127" y="730135"/>
            <a:ext cx="2619375" cy="2057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6710411" y="-519887"/>
            <a:ext cx="1754772" cy="1548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3173609">
            <a:off x="-2393021" y="-5598816"/>
            <a:ext cx="9473794" cy="738955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11624" y="2114550"/>
            <a:ext cx="10842014" cy="588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3E393A"/>
                </a:solidFill>
                <a:latin typeface="Jua Bold"/>
              </a:rPr>
              <a:t>1) Music</a:t>
            </a:r>
          </a:p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3E393A"/>
                </a:solidFill>
                <a:latin typeface="Jua Bold"/>
              </a:rPr>
              <a:t>2) Powerful , charming</a:t>
            </a:r>
          </a:p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3E393A"/>
                </a:solidFill>
                <a:latin typeface="Jua Bold"/>
              </a:rPr>
              <a:t>3)Listen, sing, relax</a:t>
            </a:r>
          </a:p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3E393A"/>
                </a:solidFill>
                <a:latin typeface="Jua Bold"/>
              </a:rPr>
              <a:t>4) I like listening it</a:t>
            </a:r>
          </a:p>
          <a:p>
            <a:pPr>
              <a:lnSpc>
                <a:spcPts val="9000"/>
              </a:lnSpc>
            </a:pPr>
            <a:r>
              <a:rPr lang="en-US" sz="7500" dirty="0">
                <a:solidFill>
                  <a:srgbClr val="3E393A"/>
                </a:solidFill>
                <a:latin typeface="Jua Bold"/>
              </a:rPr>
              <a:t>5) Life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0675017">
            <a:off x="11268028" y="4111181"/>
            <a:ext cx="7786387" cy="607338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4169647" y="545781"/>
            <a:ext cx="4010844" cy="476450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148282" y="9054804"/>
            <a:ext cx="745859" cy="66449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4453791" y="1350391"/>
            <a:ext cx="647528" cy="57688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2351406" flipH="1">
            <a:off x="-828027" y="8006460"/>
            <a:ext cx="2354372" cy="342567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 rot="2351406">
            <a:off x="1133090" y="8884250"/>
            <a:ext cx="2180695" cy="171283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6632298" y="821716"/>
            <a:ext cx="1851827" cy="1634238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16755742" y="1638835"/>
            <a:ext cx="1928577" cy="151481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-858156" y="5291215"/>
            <a:ext cx="1532777" cy="1352676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12248350" y="-395346"/>
            <a:ext cx="1379107" cy="1217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1667756">
            <a:off x="10094183" y="-3908635"/>
            <a:ext cx="9473794" cy="738955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492991" y="155844"/>
            <a:ext cx="8676177" cy="484288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9679229">
            <a:off x="-2562470" y="9154957"/>
            <a:ext cx="9473794" cy="738955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-887035" y="-455661"/>
            <a:ext cx="2027591" cy="178934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7432610">
            <a:off x="-65546" y="-266269"/>
            <a:ext cx="2619375" cy="2057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flipH="1">
            <a:off x="15742903" y="8959687"/>
            <a:ext cx="2827990" cy="411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17608323" y="8959687"/>
            <a:ext cx="2143216" cy="168339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7057682" y="5918893"/>
            <a:ext cx="689539" cy="61431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6520" y="2893458"/>
            <a:ext cx="11260435" cy="273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200" dirty="0">
                <a:solidFill>
                  <a:srgbClr val="3E393A"/>
                </a:solidFill>
                <a:latin typeface="Jua Bold"/>
              </a:rPr>
              <a:t>Homework:</a:t>
            </a:r>
          </a:p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3E393A"/>
                </a:solidFill>
                <a:latin typeface="Jua Bold"/>
                <a:hlinkClick r:id="rId16" tooltip="https://wordwall.net/uk/resource/1847683/music/music-ep-2"/>
              </a:rPr>
              <a:t>https://wordwall.net/uk/resource/1847683/music/music-ep-2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17057682" y="1028700"/>
            <a:ext cx="1754772" cy="154858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779887" y="6827910"/>
            <a:ext cx="10055861" cy="267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3E393A"/>
                </a:solidFill>
                <a:latin typeface="Jua"/>
              </a:rPr>
              <a:t>Thank you for attention.</a:t>
            </a:r>
          </a:p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3E393A"/>
                </a:solidFill>
                <a:latin typeface="Jua"/>
              </a:rPr>
              <a:t> Good-bye!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381</Words>
  <Application>Microsoft Office PowerPoint</Application>
  <PresentationFormat>Произвольный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Quicksand Bold</vt:lpstr>
      <vt:lpstr>Jua Bold</vt:lpstr>
      <vt:lpstr>Quicksand</vt:lpstr>
      <vt:lpstr>Calibri</vt:lpstr>
      <vt:lpstr>Arial</vt:lpstr>
      <vt:lpstr>Jua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dasf</dc:title>
  <dc:creator>Roman Viktorovich</dc:creator>
  <cp:lastModifiedBy>Roman Viktorovich</cp:lastModifiedBy>
  <cp:revision>5</cp:revision>
  <dcterms:created xsi:type="dcterms:W3CDTF">2006-08-16T00:00:00Z</dcterms:created>
  <dcterms:modified xsi:type="dcterms:W3CDTF">2025-11-26T09:45:51Z</dcterms:modified>
  <dc:identifier>DAFbAZicKUA</dc:identifier>
</cp:coreProperties>
</file>